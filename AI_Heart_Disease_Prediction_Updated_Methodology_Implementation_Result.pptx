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7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640080"/>
            <a:ext cx="1554480" cy="1554480"/>
          </a:xfrm>
          <a:prstGeom prst="ellipse">
            <a:avLst/>
          </a:prstGeom>
          <a:solidFill>
            <a:srgbClr val="08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480560"/>
            <a:ext cx="1097280" cy="10972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5212080"/>
            <a:ext cx="731520" cy="731520"/>
          </a:xfrm>
          <a:prstGeom prst="ellipse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88696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t>AI-Based Heart Disease</a:t>
            </a:r>
            <a:br/>
            <a:r>
              <a:t>Prediction Using Machine Learning</a:t>
            </a:r>
          </a:p>
          <a:p>
            <a:pPr>
              <a:defRPr sz="1800">
                <a:solidFill>
                  <a:srgbClr val="D7E1FA"/>
                </a:solidFill>
              </a:defRPr>
            </a:pPr>
            <a:r>
              <a:t>Internship Project Presentation</a:t>
            </a:r>
          </a:p>
          <a:p>
            <a:pPr>
              <a:defRPr sz="1400">
                <a:solidFill>
                  <a:srgbClr val="08B5D3"/>
                </a:solidFill>
              </a:defRPr>
            </a:pPr>
            <a:r>
              <a:t>Artificial Intelligence •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74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Presented by • Bharti Giram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D2755"/>
                </a:solidFill>
              </a:defRPr>
            </a:pPr>
            <a:r>
              <a:t>01 /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182"/>
                </a:solidFill>
              </a:defRPr>
            </a:pPr>
            <a:r>
              <a:t>Turning patient data into machine-learning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2011680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45336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AI &amp; Healthcare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20824"/>
            <a:ext cx="31546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AI can identify patterns in structured healthcare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64008" cy="2011680"/>
          </a:xfrm>
          <a:prstGeom prst="rect">
            <a:avLst/>
          </a:prstGeom>
          <a:solidFill>
            <a:srgbClr val="08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45336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20824"/>
            <a:ext cx="31546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Train and evaluate classification models using a heart disease dataset.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64008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545336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Academic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020824"/>
            <a:ext cx="31546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Academic AI workflow — not a medical diagnosis.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069080"/>
            <a:ext cx="2926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4069080"/>
            <a:ext cx="64008" cy="1143000"/>
          </a:xfrm>
          <a:prstGeom prst="rect">
            <a:avLst/>
          </a:prstGeom>
          <a:solidFill>
            <a:srgbClr val="14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197096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303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672584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Data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069080"/>
            <a:ext cx="2926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4069080"/>
            <a:ext cx="64008" cy="1143000"/>
          </a:xfrm>
          <a:prstGeom prst="rect">
            <a:avLst/>
          </a:prstGeom>
          <a:solidFill>
            <a:srgbClr val="08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4197096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672584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Total columns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4069080"/>
            <a:ext cx="2926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4069080"/>
            <a:ext cx="64008" cy="1143000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9" y="4197096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4672584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ML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D2755"/>
                </a:solidFill>
              </a:defRPr>
            </a:pPr>
            <a:r>
              <a:t>02 /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182"/>
                </a:solidFill>
              </a:defRPr>
            </a:pPr>
            <a:r>
              <a:t>What are we trying to solve?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A"/>
                </a:solidFill>
              </a:defRPr>
            </a:pPr>
            <a:r>
              <a:t>• Develop a machine-learning system that analyzes patient health-related attributes and predicts the target class in the dataset.</a:t>
            </a:r>
          </a:p>
          <a:p>
            <a:pPr>
              <a:spcAft>
                <a:spcPts val="1000"/>
              </a:spcAft>
              <a:defRPr sz="1700">
                <a:solidFill>
                  <a:srgbClr val="232A3A"/>
                </a:solidFill>
              </a:defRPr>
            </a:pPr>
            <a:r>
              <a:t>• Workflow: patient data → preprocessing → ML model → prediction.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2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D2755"/>
                </a:solidFill>
              </a:defRPr>
            </a:pPr>
            <a:r>
              <a:t>03 /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2057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64008" cy="2194560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56816"/>
            <a:ext cx="1783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Prepare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32304"/>
            <a:ext cx="178308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Clean and understand the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828800"/>
            <a:ext cx="2057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360" y="1828800"/>
            <a:ext cx="64008" cy="2194560"/>
          </a:xfrm>
          <a:prstGeom prst="rect">
            <a:avLst/>
          </a:prstGeom>
          <a:solidFill>
            <a:srgbClr val="08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956816"/>
            <a:ext cx="1783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Explore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432304"/>
            <a:ext cx="178308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Visualize distributions and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828800"/>
            <a:ext cx="2057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66360" y="1828800"/>
            <a:ext cx="64008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1956816"/>
            <a:ext cx="1783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432304"/>
            <a:ext cx="178308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Build classification models.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828800"/>
            <a:ext cx="2057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1828800"/>
            <a:ext cx="64008" cy="2194560"/>
          </a:xfrm>
          <a:prstGeom prst="rect">
            <a:avLst/>
          </a:prstGeom>
          <a:solidFill>
            <a:srgbClr val="14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956816"/>
            <a:ext cx="1783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432304"/>
            <a:ext cx="178308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Compare performance with multiple metrics.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1828800"/>
            <a:ext cx="2057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38360" y="1828800"/>
            <a:ext cx="64008" cy="2194560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1956816"/>
            <a:ext cx="1783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432304"/>
            <a:ext cx="178308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Create a simple prediction interface.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D2755"/>
                </a:solidFill>
              </a:defRPr>
            </a:pPr>
            <a:r>
              <a:t>04 /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182"/>
                </a:solidFill>
              </a:defRPr>
            </a:pPr>
            <a:r>
              <a:t>Source file: heart_disease_data.csv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1234440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45336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303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0824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417320"/>
            <a:ext cx="64008" cy="1234440"/>
          </a:xfrm>
          <a:prstGeom prst="rect">
            <a:avLst/>
          </a:prstGeom>
          <a:solidFill>
            <a:srgbClr val="08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545336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020824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17320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417320"/>
            <a:ext cx="64008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1545336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020824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71800"/>
            <a:ext cx="106984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971800"/>
            <a:ext cx="64008" cy="1554480"/>
          </a:xfrm>
          <a:prstGeom prst="rect">
            <a:avLst/>
          </a:prstGeom>
          <a:solidFill>
            <a:srgbClr val="14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099816"/>
            <a:ext cx="10424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Columns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75304"/>
            <a:ext cx="1042415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age • sex • cp • trestbps • chol • fbs • restecg • thalach • exang • oldpeak • slope • ca • thal •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00600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800600"/>
            <a:ext cx="64008" cy="914400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28616"/>
            <a:ext cx="10424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04104"/>
            <a:ext cx="104241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The target column is used as the prediction label.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2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D2755"/>
                </a:solidFill>
              </a:defRPr>
            </a:pPr>
            <a:r>
              <a:t>05 /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64008" cy="1325880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9616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75104"/>
            <a:ext cx="2240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Core programming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371600"/>
            <a:ext cx="64008" cy="1325880"/>
          </a:xfrm>
          <a:prstGeom prst="rect">
            <a:avLst/>
          </a:prstGeom>
          <a:solidFill>
            <a:srgbClr val="08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499616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975104"/>
            <a:ext cx="2240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Data 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64008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99616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NumPy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75104"/>
            <a:ext cx="2240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Numerical operations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371600"/>
            <a:ext cx="64008" cy="1325880"/>
          </a:xfrm>
          <a:prstGeom prst="rect">
            <a:avLst/>
          </a:prstGeom>
          <a:solidFill>
            <a:srgbClr val="14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499616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Matplotlib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975104"/>
            <a:ext cx="2240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Visualization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2004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200400"/>
            <a:ext cx="64008" cy="1325880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328416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Scikit-learn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803904"/>
            <a:ext cx="2240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Machine learning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32004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29000" y="3200400"/>
            <a:ext cx="64008" cy="1325880"/>
          </a:xfrm>
          <a:prstGeom prst="rect">
            <a:avLst/>
          </a:prstGeom>
          <a:solidFill>
            <a:srgbClr val="08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3328416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Google Colab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803904"/>
            <a:ext cx="2240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Development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2004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200400"/>
            <a:ext cx="64008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328416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HTML / CSS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803904"/>
            <a:ext cx="2240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Frontend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2004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8280" y="3200400"/>
            <a:ext cx="64008" cy="1325880"/>
          </a:xfrm>
          <a:prstGeom prst="rect">
            <a:avLst/>
          </a:prstGeom>
          <a:solidFill>
            <a:srgbClr val="14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3328416"/>
            <a:ext cx="2240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Flask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803904"/>
            <a:ext cx="2240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Backend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D2755"/>
                </a:solidFill>
              </a:defRPr>
            </a:pPr>
            <a:r>
              <a:t>06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182"/>
                </a:solidFill>
              </a:defRPr>
            </a:pPr>
            <a:r>
              <a:t>From raw CSV to an AI-powered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64008" cy="1417320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4533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01 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20824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Load heart_disease_data.csv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4173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417320"/>
            <a:ext cx="64008" cy="1417320"/>
          </a:xfrm>
          <a:prstGeom prst="rect">
            <a:avLst/>
          </a:prstGeom>
          <a:solidFill>
            <a:srgbClr val="08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4533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02 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20824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Prepare and clean the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64008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4533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03  EDA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20824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Understand distributions and patterns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41732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417320"/>
            <a:ext cx="64008" cy="1417320"/>
          </a:xfrm>
          <a:prstGeom prst="rect">
            <a:avLst/>
          </a:prstGeom>
          <a:solidFill>
            <a:srgbClr val="14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54533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04 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020824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Separate data for training and testing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20439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520439"/>
            <a:ext cx="64008" cy="1417320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64845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05  Train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123944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Build classification models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520439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3280" y="3520439"/>
            <a:ext cx="64008" cy="1417320"/>
          </a:xfrm>
          <a:prstGeom prst="rect">
            <a:avLst/>
          </a:prstGeom>
          <a:solidFill>
            <a:srgbClr val="08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364845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06  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123944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Measure model performance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520439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520439"/>
            <a:ext cx="64008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64845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07  Predict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123944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Generate the target prediction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2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D2755"/>
                </a:solidFill>
              </a:defRPr>
            </a:pPr>
            <a:r>
              <a:t>07 /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182"/>
                </a:solidFill>
              </a:defRPr>
            </a:pPr>
            <a:r>
              <a:t>Three classification approaches for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3200400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45336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0824"/>
            <a:ext cx="315468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A simple classification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64008" cy="3200400"/>
          </a:xfrm>
          <a:prstGeom prst="rect">
            <a:avLst/>
          </a:prstGeom>
          <a:solidFill>
            <a:srgbClr val="08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45336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Decision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20824"/>
            <a:ext cx="315468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Learns decision rules from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290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64008" cy="320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45336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20824"/>
            <a:ext cx="315468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Combines multiple decision trees.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2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D2755"/>
                </a:solidFill>
              </a:defRPr>
            </a:pPr>
            <a:r>
              <a:t>08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182"/>
                </a:solidFill>
              </a:defRPr>
            </a:pPr>
            <a:r>
              <a:t>How the project is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A"/>
                </a:solidFill>
              </a:defRPr>
            </a:pPr>
            <a:r>
              <a:t>• Load heart_disease_data.csv using Pandas.</a:t>
            </a:r>
          </a:p>
          <a:p>
            <a:pPr>
              <a:spcAft>
                <a:spcPts val="1000"/>
              </a:spcAft>
              <a:defRPr sz="1600">
                <a:solidFill>
                  <a:srgbClr val="232A3A"/>
                </a:solidFill>
              </a:defRPr>
            </a:pPr>
            <a:r>
              <a:t>• Prepare input features and target column.</a:t>
            </a:r>
          </a:p>
          <a:p>
            <a:pPr>
              <a:spcAft>
                <a:spcPts val="1000"/>
              </a:spcAft>
              <a:defRPr sz="1600">
                <a:solidFill>
                  <a:srgbClr val="232A3A"/>
                </a:solidFill>
              </a:defRPr>
            </a:pPr>
            <a:r>
              <a:t>• Perform exploratory analysis to understand the data.</a:t>
            </a:r>
          </a:p>
          <a:p>
            <a:pPr>
              <a:spcAft>
                <a:spcPts val="1000"/>
              </a:spcAft>
              <a:defRPr sz="1600">
                <a:solidFill>
                  <a:srgbClr val="232A3A"/>
                </a:solidFill>
              </a:defRPr>
            </a:pPr>
            <a:r>
              <a:t>• Split the dataset into training and testing portions.</a:t>
            </a:r>
          </a:p>
          <a:p>
            <a:pPr>
              <a:spcAft>
                <a:spcPts val="1000"/>
              </a:spcAft>
              <a:defRPr sz="1600">
                <a:solidFill>
                  <a:srgbClr val="232A3A"/>
                </a:solidFill>
              </a:defRPr>
            </a:pPr>
            <a:r>
              <a:t>• Train Logistic Regression, Decision Tree and Random Forest classifiers.</a:t>
            </a:r>
          </a:p>
          <a:p>
            <a:pPr>
              <a:spcAft>
                <a:spcPts val="1000"/>
              </a:spcAft>
              <a:defRPr sz="1600">
                <a:solidFill>
                  <a:srgbClr val="232A3A"/>
                </a:solidFill>
              </a:defRPr>
            </a:pPr>
            <a:r>
              <a:t>• Generate predictions on test data.</a:t>
            </a:r>
          </a:p>
          <a:p>
            <a:pPr>
              <a:spcAft>
                <a:spcPts val="1000"/>
              </a:spcAft>
              <a:defRPr sz="1600">
                <a:solidFill>
                  <a:srgbClr val="232A3A"/>
                </a:solidFill>
              </a:defRPr>
            </a:pPr>
            <a:r>
              <a:t>• Evaluate using Accuracy, Precision, Recall, F1-score and Confusion Matrix.</a:t>
            </a:r>
          </a:p>
          <a:p>
            <a:pPr>
              <a:spcAft>
                <a:spcPts val="1000"/>
              </a:spcAft>
              <a:defRPr sz="1600">
                <a:solidFill>
                  <a:srgbClr val="232A3A"/>
                </a:solidFill>
              </a:defRPr>
            </a:pPr>
            <a:r>
              <a:t>• Connect the trained model to a simple Flask-based prediction interface as the proposed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2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D2755"/>
                </a:solidFill>
              </a:defRPr>
            </a:pPr>
            <a:r>
              <a:t>09 /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182"/>
                </a:solidFill>
              </a:defRPr>
            </a:pPr>
            <a:r>
              <a:t>Exploratory Data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2103120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45336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Target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0824"/>
            <a:ext cx="301752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Shows how many records belong to each target class.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2103120"/>
          </a:xfrm>
          <a:prstGeom prst="rect">
            <a:avLst/>
          </a:prstGeom>
          <a:solidFill>
            <a:srgbClr val="08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45336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Feature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20824"/>
            <a:ext cx="301752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Histograms and distributions help understand individual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64008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45336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Correlation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20824"/>
            <a:ext cx="301752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Correlation analysis can help identify relationships among numerical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4160520"/>
            <a:ext cx="9326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63040" y="4160520"/>
            <a:ext cx="64008" cy="1051560"/>
          </a:xfrm>
          <a:prstGeom prst="rect">
            <a:avLst/>
          </a:prstGeom>
          <a:solidFill>
            <a:srgbClr val="14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4288536"/>
            <a:ext cx="90525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Purpose of EDA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64024"/>
            <a:ext cx="9052559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EDA is performed before training to understand the dataset and support model preparation.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2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D2755"/>
                </a:solidFill>
              </a:defRPr>
            </a:pPr>
            <a:r>
              <a:t>10 /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182"/>
                </a:solidFill>
              </a:defRPr>
            </a:pPr>
            <a:r>
              <a:t>What the project achieved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1828800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9616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Dataset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75104"/>
            <a:ext cx="31089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The dataset was understood and prepared for machine-learning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64008" cy="1828800"/>
          </a:xfrm>
          <a:prstGeom prst="rect">
            <a:avLst/>
          </a:prstGeom>
          <a:solidFill>
            <a:srgbClr val="08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Model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75104"/>
            <a:ext cx="31089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Three classification approaches were implemented for comparison.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64008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499616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Evaluation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975104"/>
            <a:ext cx="31089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Performance is evaluated using Accuracy, Precision, Recall, F1-score and Confusion Matrix.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49039"/>
            <a:ext cx="10789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49039"/>
            <a:ext cx="64008" cy="1325880"/>
          </a:xfrm>
          <a:prstGeom prst="rect">
            <a:avLst/>
          </a:prstGeom>
          <a:solidFill>
            <a:srgbClr val="14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77055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Important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52544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The uploaded presentation does not contain numerical model scores, so no numerical results have been invented.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2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D2755"/>
                </a:solidFill>
              </a:defRPr>
            </a:pPr>
            <a:r>
              <a:t>11 /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182"/>
                </a:solidFill>
              </a:defRPr>
            </a:pPr>
            <a:r>
              <a:t>Do not rely on a single metric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64008" cy="2011680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3677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12264"/>
            <a:ext cx="22860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Overall correct predictions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0876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508760"/>
            <a:ext cx="64008" cy="2011680"/>
          </a:xfrm>
          <a:prstGeom prst="rect">
            <a:avLst/>
          </a:prstGeom>
          <a:solidFill>
            <a:srgbClr val="08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3677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12264"/>
            <a:ext cx="22860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Quality of positive predictions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0876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508760"/>
            <a:ext cx="64008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3677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12264"/>
            <a:ext cx="22860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Positive cases identified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50876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508760"/>
            <a:ext cx="64008" cy="2011680"/>
          </a:xfrm>
          <a:prstGeom prst="rect">
            <a:avLst/>
          </a:prstGeom>
          <a:solidFill>
            <a:srgbClr val="14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19" y="163677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F1-score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2112264"/>
            <a:ext cx="22860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Balance of precision and recall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160520"/>
            <a:ext cx="8412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0" y="4160520"/>
            <a:ext cx="64008" cy="1097280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4288536"/>
            <a:ext cx="8138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Confusion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764024"/>
            <a:ext cx="8138159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Shows correct and incorrect predictions by class.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2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D2755"/>
                </a:solidFill>
              </a:defRPr>
            </a:pPr>
            <a:r>
              <a:t>12 /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182"/>
                </a:solidFill>
              </a:defRPr>
            </a:pPr>
            <a:r>
              <a:t>Proposed prediction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64008" cy="1828800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5681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32304"/>
            <a:ext cx="2286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Patient information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828800"/>
            <a:ext cx="64008" cy="1828800"/>
          </a:xfrm>
          <a:prstGeom prst="rect">
            <a:avLst/>
          </a:prstGeom>
          <a:solidFill>
            <a:srgbClr val="08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95681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PREPROCESS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32304"/>
            <a:ext cx="2286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Prepare input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64008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5681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ML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32304"/>
            <a:ext cx="2286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Generate prediction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82880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828800"/>
            <a:ext cx="64008" cy="1828800"/>
          </a:xfrm>
          <a:prstGeom prst="rect">
            <a:avLst/>
          </a:prstGeom>
          <a:solidFill>
            <a:srgbClr val="14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956816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432304"/>
            <a:ext cx="2286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Display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2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D2755"/>
                </a:solidFill>
              </a:defRPr>
            </a:pPr>
            <a:r>
              <a:t>13 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182"/>
                </a:solidFill>
              </a:defRPr>
            </a:pPr>
            <a:r>
              <a:t>What We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A"/>
                </a:solidFill>
              </a:defRPr>
            </a:pPr>
            <a:r>
              <a:t>• Dataset understanding and preparation.</a:t>
            </a:r>
          </a:p>
          <a:p>
            <a:pPr>
              <a:spcAft>
                <a:spcPts val="1000"/>
              </a:spcAft>
              <a:defRPr sz="1700">
                <a:solidFill>
                  <a:srgbClr val="232A3A"/>
                </a:solidFill>
              </a:defRPr>
            </a:pPr>
            <a:r>
              <a:t>• Exploratory data analysis.</a:t>
            </a:r>
          </a:p>
          <a:p>
            <a:pPr>
              <a:spcAft>
                <a:spcPts val="1000"/>
              </a:spcAft>
              <a:defRPr sz="1700">
                <a:solidFill>
                  <a:srgbClr val="232A3A"/>
                </a:solidFill>
              </a:defRPr>
            </a:pPr>
            <a:r>
              <a:t>• Multiple machine-learning classification models.</a:t>
            </a:r>
          </a:p>
          <a:p>
            <a:pPr>
              <a:spcAft>
                <a:spcPts val="1000"/>
              </a:spcAft>
              <a:defRPr sz="1700">
                <a:solidFill>
                  <a:srgbClr val="232A3A"/>
                </a:solidFill>
              </a:defRPr>
            </a:pPr>
            <a:r>
              <a:t>• Metric-based model evaluation.</a:t>
            </a:r>
          </a:p>
          <a:p>
            <a:pPr>
              <a:spcAft>
                <a:spcPts val="1000"/>
              </a:spcAft>
              <a:defRPr sz="1700">
                <a:solidFill>
                  <a:srgbClr val="232A3A"/>
                </a:solidFill>
              </a:defRPr>
            </a:pPr>
            <a:r>
              <a:t>• A foundation for a simple prediction interface.</a:t>
            </a:r>
          </a:p>
          <a:p>
            <a:pPr>
              <a:spcAft>
                <a:spcPts val="1000"/>
              </a:spcAft>
              <a:defRPr sz="1700">
                <a:solidFill>
                  <a:srgbClr val="232A3A"/>
                </a:solidFill>
              </a:defRPr>
            </a:pPr>
            <a:r>
              <a:t>• Future direction: secure web deployment and explainability.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5303520"/>
            <a:ext cx="65836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1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34640" y="5303520"/>
            <a:ext cx="64008" cy="685800"/>
          </a:xfrm>
          <a:prstGeom prst="rect">
            <a:avLst/>
          </a:prstGeom>
          <a:solidFill>
            <a:srgbClr val="08B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5431536"/>
            <a:ext cx="6309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2755"/>
                </a:solidFill>
              </a:defRPr>
            </a:pPr>
            <a:r>
              <a:t>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5907024"/>
            <a:ext cx="630936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A"/>
                </a:solidFill>
              </a:defRPr>
            </a:pPr>
            <a:r>
              <a:t>Build the model and connect it to a Flask website.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182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7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000">
                <a:solidFill>
                  <a:srgbClr val="08B5D3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